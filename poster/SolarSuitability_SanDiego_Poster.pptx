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21383625" cy="30275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0" d="100"/>
          <a:sy n="50" d="100"/>
        </p:scale>
        <p:origin x="-207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1384000" cy="30275999"/>
          </a:xfrm>
          <a:prstGeom prst="rect">
            <a:avLst/>
          </a:prstGeom>
          <a:solidFill>
            <a:srgbClr val="07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384000" cy="3960000"/>
          </a:xfrm>
          <a:prstGeom prst="rect">
            <a:avLst/>
          </a:prstGeom>
          <a:solidFill>
            <a:srgbClr val="04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1384000" cy="792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79200"/>
            <a:ext cx="21384000" cy="79200"/>
          </a:xfrm>
          <a:prstGeom prst="rect">
            <a:avLst/>
          </a:prstGeom>
          <a:solidFill>
            <a:srgbClr val="D4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158400"/>
            <a:ext cx="21384000" cy="79200"/>
          </a:xfrm>
          <a:prstGeom prst="rect">
            <a:avLst/>
          </a:prstGeom>
          <a:solidFill>
            <a:srgbClr val="8A4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251999" cy="3960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6164000" y="180000"/>
            <a:ext cx="4860000" cy="352800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164000" y="252000"/>
            <a:ext cx="4860000" cy="30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0" b="0" i="0">
                <a:solidFill>
                  <a:srgbClr val="FF8C00"/>
                </a:solidFill>
                <a:latin typeface="Calibri"/>
              </a:rPr>
              <a:t>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164000" y="2772000"/>
            <a:ext cx="48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060"/>
                </a:solidFill>
                <a:latin typeface="Calibri"/>
              </a:rPr>
              <a:t>SOLAR  ENERGY  POTENTIAL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" y="251999"/>
            <a:ext cx="15624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 dirty="0">
                <a:solidFill>
                  <a:srgbClr val="FFFFFF"/>
                </a:solidFill>
                <a:latin typeface="Calibri"/>
              </a:rPr>
              <a:t>ROOFTOP SOLAR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1548000"/>
            <a:ext cx="15624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 dirty="0">
                <a:solidFill>
                  <a:srgbClr val="FF8C00"/>
                </a:solidFill>
                <a:latin typeface="Calibri"/>
              </a:rPr>
              <a:t>SUITABILITY ASSESSMENT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000" y="2592000"/>
            <a:ext cx="1562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1" dirty="0">
                <a:solidFill>
                  <a:srgbClr val="00CFBB"/>
                </a:solidFill>
                <a:latin typeface="Calibri"/>
              </a:rPr>
              <a:t>San Diego, California  —  Geospatial Analysis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8000" y="3568798"/>
            <a:ext cx="20808000" cy="629000"/>
          </a:xfrm>
          <a:prstGeom prst="rect">
            <a:avLst/>
          </a:prstGeom>
          <a:solidFill>
            <a:srgbClr val="020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>
                <a:solidFill>
                  <a:srgbClr val="FFFFFF"/>
                </a:solidFill>
                <a:latin typeface="Helvetica" pitchFamily="2" charset="0"/>
              </a:rPr>
              <a:t>Session: Spring 2025                                                                     Supervisor: Dr. Adnan Siddique                                                                                                Course: Spatial Data Science</a:t>
            </a:r>
          </a:p>
          <a:p>
            <a:r>
              <a:rPr lang="en-US" i="1" dirty="0">
                <a:solidFill>
                  <a:srgbClr val="FFFFFF"/>
                </a:solidFill>
                <a:latin typeface="Helvetica" pitchFamily="2" charset="0"/>
              </a:rPr>
              <a:t>         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3168000"/>
            <a:ext cx="251999" cy="792000"/>
          </a:xfrm>
          <a:prstGeom prst="rect">
            <a:avLst/>
          </a:prstGeom>
          <a:solidFill>
            <a:srgbClr val="00C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84000" y="2939045"/>
            <a:ext cx="1008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 dirty="0">
                <a:solidFill>
                  <a:srgbClr val="FFFFFF"/>
                </a:solidFill>
                <a:latin typeface="Calibri"/>
              </a:rPr>
              <a:t>Abdullah </a:t>
            </a:r>
            <a:r>
              <a:rPr sz="3000" b="1" i="0" dirty="0">
                <a:solidFill>
                  <a:schemeClr val="bg1"/>
                </a:solidFill>
                <a:latin typeface="Calibri"/>
              </a:rPr>
              <a:t>Jamil</a:t>
            </a:r>
            <a:r>
              <a:rPr lang="en-US" sz="3000" b="1" i="0" dirty="0">
                <a:solidFill>
                  <a:schemeClr val="bg1"/>
                </a:solidFill>
                <a:latin typeface="Calibri"/>
              </a:rPr>
              <a:t> (</a:t>
            </a:r>
            <a:r>
              <a:rPr lang="en-US" sz="3200" b="1" i="0" dirty="0">
                <a:solidFill>
                  <a:schemeClr val="bg1"/>
                </a:solidFill>
                <a:latin typeface="Calibri"/>
              </a:rPr>
              <a:t>BSCS-23136)</a:t>
            </a:r>
            <a:endParaRPr sz="3000" b="1" i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88000" y="4211999"/>
            <a:ext cx="5328000" cy="5112000"/>
          </a:xfrm>
          <a:prstGeom prst="rect">
            <a:avLst/>
          </a:prstGeom>
          <a:solidFill>
            <a:srgbClr val="0D1D33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0000" y="4373999"/>
            <a:ext cx="5004000" cy="648000"/>
          </a:xfrm>
          <a:prstGeom prst="rect">
            <a:avLst/>
          </a:prstGeom>
          <a:solidFill>
            <a:srgbClr val="152D4D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0000" y="4373999"/>
            <a:ext cx="162000" cy="64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6000" y="4427999"/>
            <a:ext cx="4752001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D060"/>
                </a:solidFill>
                <a:latin typeface="Calibri"/>
              </a:rPr>
              <a:t>  01  INTRODUCTION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0000" y="5129999"/>
            <a:ext cx="5004000" cy="40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2EDFF"/>
                </a:solidFill>
                <a:latin typeface="Calibri"/>
              </a:rPr>
              <a:t>Rooftop solar energy is a cornerstone of urban sustainability. Yet solar potential varies dramatically between buildings based on irradiance, roof size, and shading from surrounding structures.
This study develops a scalable geospatial pipeline to assess and rank every building in San Diego by its rooftop solar suitability, enabling data-driven targeting of solar incentive programmes.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8000" y="9557999"/>
            <a:ext cx="5328000" cy="4320000"/>
          </a:xfrm>
          <a:prstGeom prst="rect">
            <a:avLst/>
          </a:prstGeom>
          <a:solidFill>
            <a:srgbClr val="0D1D33"/>
          </a:solidFill>
          <a:ln w="19050">
            <a:solidFill>
              <a:srgbClr val="00CF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0000" y="9719999"/>
            <a:ext cx="5004000" cy="648000"/>
          </a:xfrm>
          <a:prstGeom prst="rect">
            <a:avLst/>
          </a:prstGeom>
          <a:solidFill>
            <a:srgbClr val="152D4D"/>
          </a:solidFill>
          <a:ln w="19050">
            <a:solidFill>
              <a:srgbClr val="00CF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0000" y="9719999"/>
            <a:ext cx="162000" cy="648000"/>
          </a:xfrm>
          <a:prstGeom prst="rect">
            <a:avLst/>
          </a:prstGeom>
          <a:solidFill>
            <a:srgbClr val="00C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6000" y="9773999"/>
            <a:ext cx="4752001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CFBB"/>
                </a:solidFill>
                <a:latin typeface="Calibri"/>
              </a:rPr>
              <a:t>  02  OBJECTIVES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0000" y="10547999"/>
            <a:ext cx="108000" cy="108000"/>
          </a:xfrm>
          <a:prstGeom prst="rect">
            <a:avLst/>
          </a:prstGeom>
          <a:solidFill>
            <a:srgbClr val="00C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4000" y="10511999"/>
            <a:ext cx="48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0">
                <a:solidFill>
                  <a:srgbClr val="E2EDFF"/>
                </a:solidFill>
                <a:latin typeface="Calibri"/>
              </a:rPr>
              <a:t>Assess solar potential for all San Diego buildings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0000" y="11411999"/>
            <a:ext cx="108000" cy="108000"/>
          </a:xfrm>
          <a:prstGeom prst="rect">
            <a:avLst/>
          </a:prstGeom>
          <a:solidFill>
            <a:srgbClr val="00C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4000" y="11375999"/>
            <a:ext cx="48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0">
                <a:solidFill>
                  <a:srgbClr val="E2EDFF"/>
                </a:solidFill>
                <a:latin typeface="Calibri"/>
              </a:rPr>
              <a:t>Integrate irradiance, roof area &amp; shadow data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0000" y="12275999"/>
            <a:ext cx="108000" cy="108000"/>
          </a:xfrm>
          <a:prstGeom prst="rect">
            <a:avLst/>
          </a:prstGeom>
          <a:solidFill>
            <a:srgbClr val="00C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84000" y="12239999"/>
            <a:ext cx="48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0">
                <a:solidFill>
                  <a:srgbClr val="E2EDFF"/>
                </a:solidFill>
                <a:latin typeface="Calibri"/>
              </a:rPr>
              <a:t>Classify 322,863 buildings into suitability tiers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0000" y="13139999"/>
            <a:ext cx="108000" cy="108000"/>
          </a:xfrm>
          <a:prstGeom prst="rect">
            <a:avLst/>
          </a:prstGeom>
          <a:solidFill>
            <a:srgbClr val="00C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84000" y="13103999"/>
            <a:ext cx="48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0">
                <a:solidFill>
                  <a:srgbClr val="E2EDFF"/>
                </a:solidFill>
                <a:latin typeface="Calibri"/>
              </a:rPr>
              <a:t>Export results as GeoPackage, Shapefile &amp; CSV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88000" y="14111999"/>
            <a:ext cx="5328000" cy="6660000"/>
          </a:xfrm>
          <a:prstGeom prst="rect">
            <a:avLst/>
          </a:prstGeom>
          <a:solidFill>
            <a:srgbClr val="0D1D33"/>
          </a:solidFill>
          <a:ln w="19050">
            <a:solidFill>
              <a:srgbClr val="3A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50000" y="14273999"/>
            <a:ext cx="5004000" cy="648000"/>
          </a:xfrm>
          <a:prstGeom prst="rect">
            <a:avLst/>
          </a:prstGeom>
          <a:solidFill>
            <a:srgbClr val="152D4D"/>
          </a:solidFill>
          <a:ln w="19050">
            <a:solidFill>
              <a:srgbClr val="3A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50000" y="14273999"/>
            <a:ext cx="162000" cy="648000"/>
          </a:xfrm>
          <a:prstGeom prst="rect">
            <a:avLst/>
          </a:prstGeom>
          <a:solidFill>
            <a:srgbClr val="3A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66000" y="14327999"/>
            <a:ext cx="4752001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A9DFF"/>
                </a:solidFill>
                <a:latin typeface="Calibri"/>
              </a:rPr>
              <a:t>  03  DATA SOURCES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0000" y="15065999"/>
            <a:ext cx="180000" cy="720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20000" y="15065999"/>
            <a:ext cx="4788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8C00"/>
                </a:solidFill>
                <a:latin typeface="Calibri"/>
              </a:rPr>
              <a:t>US Census TIGER/Line 2023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0000" y="15353999"/>
            <a:ext cx="4788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88A5C5"/>
                </a:solidFill>
                <a:latin typeface="Calibri"/>
              </a:rPr>
              <a:t>California city boundary shapefile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0000" y="16433999"/>
            <a:ext cx="180000" cy="720000"/>
          </a:xfrm>
          <a:prstGeom prst="rect">
            <a:avLst/>
          </a:prstGeom>
          <a:solidFill>
            <a:srgbClr val="00C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20000" y="16433999"/>
            <a:ext cx="4788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FBB"/>
                </a:solidFill>
                <a:latin typeface="Calibri"/>
              </a:rPr>
              <a:t>Microsoft Building Footprints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0000" y="16721999"/>
            <a:ext cx="4788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88A5C5"/>
                </a:solidFill>
                <a:latin typeface="Calibri"/>
              </a:rPr>
              <a:t>~3.4 GB California building polygons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0000" y="17801999"/>
            <a:ext cx="180000" cy="720000"/>
          </a:xfrm>
          <a:prstGeom prst="rect">
            <a:avLst/>
          </a:prstGeom>
          <a:solidFill>
            <a:srgbClr val="00D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20000" y="17801999"/>
            <a:ext cx="4788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72"/>
                </a:solidFill>
                <a:latin typeface="Calibri"/>
              </a:rPr>
              <a:t>OpenStreetMap / Overpass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0000" y="18089999"/>
            <a:ext cx="4788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88A5C5"/>
                </a:solidFill>
                <a:latin typeface="Calibri"/>
              </a:rPr>
              <a:t>Building height tags for shadow proxy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0000" y="19169999"/>
            <a:ext cx="180000" cy="720000"/>
          </a:xfrm>
          <a:prstGeom prst="rect">
            <a:avLst/>
          </a:prstGeom>
          <a:solidFill>
            <a:srgbClr val="3A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20000" y="19169999"/>
            <a:ext cx="4788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A9DFF"/>
                </a:solidFill>
                <a:latin typeface="Calibri"/>
              </a:rPr>
              <a:t>PVGIS — EU JRC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0000" y="19457999"/>
            <a:ext cx="4788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88A5C5"/>
                </a:solidFill>
                <a:latin typeface="Calibri"/>
              </a:rPr>
              <a:t>GHI, DNI, PVOUT raster layers (GeoTIFF)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9000" y="20838512"/>
            <a:ext cx="5328000" cy="7650000"/>
          </a:xfrm>
          <a:prstGeom prst="rect">
            <a:avLst/>
          </a:prstGeom>
          <a:solidFill>
            <a:srgbClr val="0D1D33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2" name="Rectangle 51"/>
          <p:cNvSpPr/>
          <p:nvPr/>
        </p:nvSpPr>
        <p:spPr>
          <a:xfrm>
            <a:off x="450000" y="21167999"/>
            <a:ext cx="5004000" cy="648000"/>
          </a:xfrm>
          <a:prstGeom prst="rect">
            <a:avLst/>
          </a:prstGeom>
          <a:solidFill>
            <a:srgbClr val="152D4D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450000" y="21167999"/>
            <a:ext cx="162000" cy="64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66000" y="21221999"/>
            <a:ext cx="475200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FFD060"/>
                </a:solidFill>
                <a:latin typeface="Calibri"/>
              </a:rPr>
              <a:t>  04  </a:t>
            </a:r>
            <a:r>
              <a:rPr lang="en-US" sz="2200" b="1" dirty="0">
                <a:solidFill>
                  <a:srgbClr val="FFD060"/>
                </a:solidFill>
                <a:latin typeface="Calibri"/>
              </a:rPr>
              <a:t>Problem Statement</a:t>
            </a:r>
            <a:endParaRPr sz="2200" b="1" i="0" dirty="0">
              <a:solidFill>
                <a:srgbClr val="FFD060"/>
              </a:solidFill>
              <a:latin typeface="Calibri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36000" y="22190885"/>
            <a:ext cx="5571000" cy="5352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0000" indent="0">
              <a:lnSpc>
                <a:spcPct val="160000"/>
              </a:lnSpc>
              <a:spcBef>
                <a:spcPts val="0"/>
              </a:spcBef>
              <a:buNone/>
            </a:pPr>
            <a:r>
              <a:rPr lang="en-US" spc="-100" dirty="0">
                <a:solidFill>
                  <a:schemeClr val="bg1"/>
                </a:solidFill>
                <a:latin typeface="Helvetica" pitchFamily="2" charset="0"/>
              </a:rPr>
              <a:t>How can every rooftop in San Diego be systematically ranked for solar viability using open geospatial data?</a:t>
            </a:r>
          </a:p>
          <a:p>
            <a:pPr marL="360000" indent="0">
              <a:lnSpc>
                <a:spcPct val="160000"/>
              </a:lnSpc>
              <a:spcBef>
                <a:spcPts val="0"/>
              </a:spcBef>
              <a:buNone/>
            </a:pPr>
            <a:endParaRPr lang="en-US" spc="-100" dirty="0">
              <a:solidFill>
                <a:schemeClr val="bg1"/>
              </a:solidFill>
              <a:latin typeface="Helvetica" pitchFamily="2" charset="0"/>
            </a:endParaRPr>
          </a:p>
          <a:p>
            <a:pPr marL="360000" indent="0">
              <a:lnSpc>
                <a:spcPct val="160000"/>
              </a:lnSpc>
              <a:spcBef>
                <a:spcPts val="0"/>
              </a:spcBef>
              <a:buNone/>
            </a:pPr>
            <a:r>
              <a:rPr lang="en-US" spc="-100" dirty="0">
                <a:solidFill>
                  <a:schemeClr val="bg1"/>
                </a:solidFill>
                <a:latin typeface="Helvetica" pitchFamily="2" charset="0"/>
              </a:rPr>
              <a:t> Urban solar deployment is inefficient without spatial targeting. Existing incentive programs lack building-level suitability data, leading to missed opportunities in high-potential zones and wasted outreach in low-potential areas. This study addresses that gap by creating a reproducible, city-wide suitability score for all 322,863 buildings in San Diego, combining three key factors: annual global horizontal irradiance (GHI), rooftop area, and height-based shadow exposure.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886000" y="4211999"/>
            <a:ext cx="9648000" cy="15300000"/>
          </a:xfrm>
          <a:prstGeom prst="rect">
            <a:avLst/>
          </a:prstGeom>
          <a:solidFill>
            <a:srgbClr val="0D1D33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6048000" y="4373999"/>
            <a:ext cx="9324000" cy="648000"/>
          </a:xfrm>
          <a:prstGeom prst="rect">
            <a:avLst/>
          </a:prstGeom>
          <a:solidFill>
            <a:srgbClr val="152D4D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6048000" y="4373999"/>
            <a:ext cx="162000" cy="64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264000" y="4427999"/>
            <a:ext cx="9072001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FFD060"/>
                </a:solidFill>
                <a:latin typeface="Calibri"/>
              </a:rPr>
              <a:t>  06  SOLAR SUITABILITY MAP — SAN DIEGO</a:t>
            </a:r>
          </a:p>
        </p:txBody>
      </p:sp>
      <p:pic>
        <p:nvPicPr>
          <p:cNvPr id="71" name="Picture 70" descr="suitability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0" y="5129999"/>
            <a:ext cx="9324000" cy="14238001"/>
          </a:xfrm>
          <a:prstGeom prst="rect">
            <a:avLst/>
          </a:prstGeom>
        </p:spPr>
      </p:pic>
      <p:sp>
        <p:nvSpPr>
          <p:cNvPr id="72" name="Rectangle 71"/>
          <p:cNvSpPr/>
          <p:nvPr/>
        </p:nvSpPr>
        <p:spPr>
          <a:xfrm>
            <a:off x="5886000" y="19745999"/>
            <a:ext cx="9648000" cy="2484000"/>
          </a:xfrm>
          <a:prstGeom prst="rect">
            <a:avLst/>
          </a:prstGeom>
          <a:solidFill>
            <a:srgbClr val="0D1D33"/>
          </a:solidFill>
          <a:ln w="19050">
            <a:solidFill>
              <a:srgbClr val="1C3D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6048000" y="19826999"/>
            <a:ext cx="2196000" cy="2160000"/>
          </a:xfrm>
          <a:prstGeom prst="rect">
            <a:avLst/>
          </a:prstGeom>
          <a:solidFill>
            <a:srgbClr val="11243E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6048000" y="19826999"/>
            <a:ext cx="2196000" cy="144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6048000" y="20024999"/>
            <a:ext cx="2196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8C00"/>
                </a:solidFill>
                <a:latin typeface="Calibri"/>
              </a:rPr>
              <a:t>322,863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048000" y="20726999"/>
            <a:ext cx="2196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A5C5"/>
                </a:solidFill>
                <a:latin typeface="Calibri"/>
              </a:rPr>
              <a:t>Buildings Analyzed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424000" y="19826999"/>
            <a:ext cx="2196000" cy="2160000"/>
          </a:xfrm>
          <a:prstGeom prst="rect">
            <a:avLst/>
          </a:prstGeom>
          <a:solidFill>
            <a:srgbClr val="11243E"/>
          </a:solidFill>
          <a:ln w="25400">
            <a:solidFill>
              <a:srgbClr val="00CF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8424000" y="19826999"/>
            <a:ext cx="2196000" cy="144000"/>
          </a:xfrm>
          <a:prstGeom prst="rect">
            <a:avLst/>
          </a:prstGeom>
          <a:solidFill>
            <a:srgbClr val="00C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424000" y="20024999"/>
            <a:ext cx="2196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CFBB"/>
                </a:solidFill>
                <a:latin typeface="Calibri"/>
              </a:rPr>
              <a:t>~1,295 km²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406000" y="21347999"/>
            <a:ext cx="2196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88A5C5"/>
                </a:solidFill>
                <a:latin typeface="Calibri"/>
              </a:rPr>
              <a:t>Study Area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800000" y="19826999"/>
            <a:ext cx="2196000" cy="2160000"/>
          </a:xfrm>
          <a:prstGeom prst="rect">
            <a:avLst/>
          </a:prstGeom>
          <a:solidFill>
            <a:srgbClr val="11243E"/>
          </a:solidFill>
          <a:ln w="25400">
            <a:solidFill>
              <a:srgbClr val="FFB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10800000" y="19826999"/>
            <a:ext cx="2196000" cy="144000"/>
          </a:xfrm>
          <a:prstGeom prst="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10800000" y="20024999"/>
            <a:ext cx="2196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500" b="1" i="0" dirty="0">
                <a:solidFill>
                  <a:srgbClr val="FFB000"/>
                </a:solidFill>
                <a:latin typeface="Calibri"/>
              </a:rPr>
              <a:t>5–7 kWh/m²/d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800000" y="21293999"/>
            <a:ext cx="2196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A5C5"/>
                </a:solidFill>
                <a:latin typeface="Calibri"/>
              </a:rPr>
              <a:t>Average GHI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3176000" y="19826999"/>
            <a:ext cx="2196000" cy="2160000"/>
          </a:xfrm>
          <a:prstGeom prst="rect">
            <a:avLst/>
          </a:prstGeom>
          <a:solidFill>
            <a:srgbClr val="11243E"/>
          </a:solidFill>
          <a:ln w="25400">
            <a:solidFill>
              <a:srgbClr val="3A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13176000" y="19826999"/>
            <a:ext cx="2196000" cy="144000"/>
          </a:xfrm>
          <a:prstGeom prst="rect">
            <a:avLst/>
          </a:prstGeom>
          <a:solidFill>
            <a:srgbClr val="3A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13176000" y="20024999"/>
            <a:ext cx="2196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3A9DFF"/>
                </a:solidFill>
                <a:latin typeface="Calibri"/>
              </a:rPr>
              <a:t>3 Tiers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3176000" y="20726999"/>
            <a:ext cx="2196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A5C5"/>
                </a:solidFill>
                <a:latin typeface="Calibri"/>
              </a:rPr>
              <a:t>Suitability Classes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886000" y="22463999"/>
            <a:ext cx="9648000" cy="6192000"/>
          </a:xfrm>
          <a:prstGeom prst="rect">
            <a:avLst/>
          </a:prstGeom>
          <a:solidFill>
            <a:srgbClr val="0D1D33"/>
          </a:solidFill>
          <a:ln w="19050">
            <a:solidFill>
              <a:srgbClr val="00CF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6048000" y="22625999"/>
            <a:ext cx="9324000" cy="648000"/>
          </a:xfrm>
          <a:prstGeom prst="rect">
            <a:avLst/>
          </a:prstGeom>
          <a:solidFill>
            <a:srgbClr val="152D4D"/>
          </a:solidFill>
          <a:ln w="19050">
            <a:solidFill>
              <a:srgbClr val="00CF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6048000" y="22625999"/>
            <a:ext cx="162000" cy="648000"/>
          </a:xfrm>
          <a:prstGeom prst="rect">
            <a:avLst/>
          </a:prstGeom>
          <a:solidFill>
            <a:srgbClr val="00C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6264000" y="22679999"/>
            <a:ext cx="9072001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CFBB"/>
                </a:solidFill>
                <a:latin typeface="Calibri"/>
              </a:rPr>
              <a:t>  07  SUITABILITY CLASSIFICATION SCHEME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048000" y="23417999"/>
            <a:ext cx="3000000" cy="180000"/>
          </a:xfrm>
          <a:prstGeom prst="rect">
            <a:avLst/>
          </a:prstGeom>
          <a:solidFill>
            <a:srgbClr val="00D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6048000" y="23633999"/>
            <a:ext cx="30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D472"/>
                </a:solidFill>
                <a:latin typeface="Calibri"/>
              </a:rPr>
              <a:t>HIGH SUITABILITY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048000" y="23975999"/>
            <a:ext cx="3000000" cy="45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0">
                <a:solidFill>
                  <a:srgbClr val="88A5C5"/>
                </a:solidFill>
                <a:latin typeface="Calibri"/>
              </a:rPr>
              <a:t>Large roof area (&gt;80 m²)  •  GHI &gt; 5.5 kWh/m²/day  •  Minimal shadow penalty (&lt;20%)  •  Best ROI for solar investment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156000" y="23417999"/>
            <a:ext cx="3000000" cy="180000"/>
          </a:xfrm>
          <a:prstGeom prst="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9156000" y="23633999"/>
            <a:ext cx="30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B000"/>
                </a:solidFill>
                <a:latin typeface="Calibri"/>
              </a:rPr>
              <a:t>MODERATE SUITABILITY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156000" y="23975999"/>
            <a:ext cx="3000000" cy="45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0">
                <a:solidFill>
                  <a:srgbClr val="88A5C5"/>
                </a:solidFill>
                <a:latin typeface="Calibri"/>
              </a:rPr>
              <a:t>Medium roof (40–80 m²)  •  GHI 4.5–5.5 kWh/m²/day  •  Moderate shading  •  Viable with optimised panel placement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2264000" y="23417999"/>
            <a:ext cx="3000000" cy="180000"/>
          </a:xfrm>
          <a:prstGeom prst="rect">
            <a:avLst/>
          </a:prstGeom>
          <a:solidFill>
            <a:srgbClr val="FF4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12264000" y="23633999"/>
            <a:ext cx="30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4358"/>
                </a:solidFill>
                <a:latin typeface="Calibri"/>
              </a:rPr>
              <a:t>LOW SUITABILITY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2264000" y="23975999"/>
            <a:ext cx="3000000" cy="45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0">
                <a:solidFill>
                  <a:srgbClr val="88A5C5"/>
                </a:solidFill>
                <a:latin typeface="Calibri"/>
              </a:rPr>
              <a:t>Small roof (&lt;40 m²)  •  GHI &lt; 4.5 kWh/m²/day  •  High shadow penalty (&gt;40%)  •  Not cost-effective currently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5804000" y="4211999"/>
            <a:ext cx="5292000" cy="9180000"/>
          </a:xfrm>
          <a:prstGeom prst="rect">
            <a:avLst/>
          </a:prstGeom>
          <a:solidFill>
            <a:srgbClr val="0D1D33"/>
          </a:solidFill>
          <a:ln w="19050">
            <a:solidFill>
              <a:srgbClr val="00CF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15966000" y="4373999"/>
            <a:ext cx="4968000" cy="648000"/>
          </a:xfrm>
          <a:prstGeom prst="rect">
            <a:avLst/>
          </a:prstGeom>
          <a:solidFill>
            <a:srgbClr val="152D4D"/>
          </a:solidFill>
          <a:ln w="19050">
            <a:solidFill>
              <a:srgbClr val="00CF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15966000" y="4373999"/>
            <a:ext cx="162000" cy="648000"/>
          </a:xfrm>
          <a:prstGeom prst="rect">
            <a:avLst/>
          </a:prstGeom>
          <a:solidFill>
            <a:srgbClr val="00C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16182000" y="4427999"/>
            <a:ext cx="4716001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CFBB"/>
                </a:solidFill>
                <a:latin typeface="Calibri"/>
              </a:rPr>
              <a:t>  05  METHODOLOGY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5966000" y="5129999"/>
            <a:ext cx="4968000" cy="1062000"/>
          </a:xfrm>
          <a:prstGeom prst="rect">
            <a:avLst/>
          </a:prstGeom>
          <a:solidFill>
            <a:srgbClr val="0A1C34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15966000" y="5129999"/>
            <a:ext cx="180000" cy="1062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16200000" y="5165999"/>
            <a:ext cx="4752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FF8C00"/>
                </a:solidFill>
                <a:latin typeface="Calibri"/>
              </a:rPr>
              <a:t>1. City Boundary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6200000" y="5453999"/>
            <a:ext cx="4752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A5C5"/>
                </a:solidFill>
                <a:latin typeface="Calibri"/>
              </a:rPr>
              <a:t>Extract San Diego polygon from CA TIGER/Line shapefile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8378000" y="6209999"/>
            <a:ext cx="144000" cy="108000"/>
          </a:xfrm>
          <a:prstGeom prst="rect">
            <a:avLst/>
          </a:prstGeom>
          <a:solidFill>
            <a:srgbClr val="2A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15966000" y="6209999"/>
            <a:ext cx="4968000" cy="1062000"/>
          </a:xfrm>
          <a:prstGeom prst="rect">
            <a:avLst/>
          </a:prstGeom>
          <a:solidFill>
            <a:srgbClr val="0A1C34"/>
          </a:solidFill>
          <a:ln w="25400">
            <a:solidFill>
              <a:srgbClr val="FFD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ectangle 111"/>
          <p:cNvSpPr/>
          <p:nvPr/>
        </p:nvSpPr>
        <p:spPr>
          <a:xfrm>
            <a:off x="15966000" y="6209999"/>
            <a:ext cx="180000" cy="1062000"/>
          </a:xfrm>
          <a:prstGeom prst="rect">
            <a:avLst/>
          </a:prstGeom>
          <a:solidFill>
            <a:srgbClr val="FFD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16200000" y="6245999"/>
            <a:ext cx="4752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FFD060"/>
                </a:solidFill>
                <a:latin typeface="Calibri"/>
              </a:rPr>
              <a:t>2. Clip Buildings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6200000" y="6533999"/>
            <a:ext cx="4752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A5C5"/>
                </a:solidFill>
                <a:latin typeface="Calibri"/>
              </a:rPr>
              <a:t>Clip 322K footprints to city limits → cache GeoPackage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8378000" y="7289999"/>
            <a:ext cx="144000" cy="108000"/>
          </a:xfrm>
          <a:prstGeom prst="rect">
            <a:avLst/>
          </a:prstGeom>
          <a:solidFill>
            <a:srgbClr val="2A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Rectangle 115"/>
          <p:cNvSpPr/>
          <p:nvPr/>
        </p:nvSpPr>
        <p:spPr>
          <a:xfrm>
            <a:off x="15966000" y="7289999"/>
            <a:ext cx="4968000" cy="1062000"/>
          </a:xfrm>
          <a:prstGeom prst="rect">
            <a:avLst/>
          </a:prstGeom>
          <a:solidFill>
            <a:srgbClr val="0A1C34"/>
          </a:solidFill>
          <a:ln w="25400">
            <a:solidFill>
              <a:srgbClr val="00CF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15966000" y="7289999"/>
            <a:ext cx="180000" cy="1062000"/>
          </a:xfrm>
          <a:prstGeom prst="rect">
            <a:avLst/>
          </a:prstGeom>
          <a:solidFill>
            <a:srgbClr val="00C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16200000" y="7325999"/>
            <a:ext cx="4752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00CFBB"/>
                </a:solidFill>
                <a:latin typeface="Calibri"/>
              </a:rPr>
              <a:t>3. Height Spatial Join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6200000" y="7613999"/>
            <a:ext cx="4752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A5C5"/>
                </a:solidFill>
                <a:latin typeface="Calibri"/>
              </a:rPr>
              <a:t>Join OSM building heights to footprints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8378000" y="8369999"/>
            <a:ext cx="144000" cy="108000"/>
          </a:xfrm>
          <a:prstGeom prst="rect">
            <a:avLst/>
          </a:prstGeom>
          <a:solidFill>
            <a:srgbClr val="2A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ectangle 120"/>
          <p:cNvSpPr/>
          <p:nvPr/>
        </p:nvSpPr>
        <p:spPr>
          <a:xfrm>
            <a:off x="15966000" y="8369999"/>
            <a:ext cx="4968000" cy="1062000"/>
          </a:xfrm>
          <a:prstGeom prst="rect">
            <a:avLst/>
          </a:prstGeom>
          <a:solidFill>
            <a:srgbClr val="0A1C34"/>
          </a:solidFill>
          <a:ln w="25400">
            <a:solidFill>
              <a:srgbClr val="00CF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ectangle 121"/>
          <p:cNvSpPr/>
          <p:nvPr/>
        </p:nvSpPr>
        <p:spPr>
          <a:xfrm>
            <a:off x="15966000" y="8369999"/>
            <a:ext cx="180000" cy="1062000"/>
          </a:xfrm>
          <a:prstGeom prst="rect">
            <a:avLst/>
          </a:prstGeom>
          <a:solidFill>
            <a:srgbClr val="00C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16200000" y="8405999"/>
            <a:ext cx="4752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00CFBB"/>
                </a:solidFill>
                <a:latin typeface="Calibri"/>
              </a:rPr>
              <a:t>4. Sample GHI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6200000" y="8693999"/>
            <a:ext cx="4752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A5C5"/>
                </a:solidFill>
                <a:latin typeface="Calibri"/>
              </a:rPr>
              <a:t>Sample annual irradiance at building centroids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18378000" y="9449999"/>
            <a:ext cx="144000" cy="108000"/>
          </a:xfrm>
          <a:prstGeom prst="rect">
            <a:avLst/>
          </a:prstGeom>
          <a:solidFill>
            <a:srgbClr val="2A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Rectangle 125"/>
          <p:cNvSpPr/>
          <p:nvPr/>
        </p:nvSpPr>
        <p:spPr>
          <a:xfrm>
            <a:off x="15966000" y="9449999"/>
            <a:ext cx="4968000" cy="1062000"/>
          </a:xfrm>
          <a:prstGeom prst="rect">
            <a:avLst/>
          </a:prstGeom>
          <a:solidFill>
            <a:srgbClr val="0A1C34"/>
          </a:solidFill>
          <a:ln w="25400">
            <a:solidFill>
              <a:srgbClr val="3A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Rectangle 126"/>
          <p:cNvSpPr/>
          <p:nvPr/>
        </p:nvSpPr>
        <p:spPr>
          <a:xfrm>
            <a:off x="15966000" y="9449999"/>
            <a:ext cx="180000" cy="1062000"/>
          </a:xfrm>
          <a:prstGeom prst="rect">
            <a:avLst/>
          </a:prstGeom>
          <a:solidFill>
            <a:srgbClr val="3A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16200000" y="9485999"/>
            <a:ext cx="4752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3A9DFF"/>
                </a:solidFill>
                <a:latin typeface="Calibri"/>
              </a:rPr>
              <a:t>5. Shadow Penalty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6200000" y="9773999"/>
            <a:ext cx="4752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A5C5"/>
                </a:solidFill>
                <a:latin typeface="Calibri"/>
              </a:rPr>
              <a:t>Height-based shadow score from tall neighbours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8378000" y="10529999"/>
            <a:ext cx="144000" cy="108000"/>
          </a:xfrm>
          <a:prstGeom prst="rect">
            <a:avLst/>
          </a:prstGeom>
          <a:solidFill>
            <a:srgbClr val="2A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Rectangle 130"/>
          <p:cNvSpPr/>
          <p:nvPr/>
        </p:nvSpPr>
        <p:spPr>
          <a:xfrm>
            <a:off x="15966000" y="10529999"/>
            <a:ext cx="4968000" cy="1062000"/>
          </a:xfrm>
          <a:prstGeom prst="rect">
            <a:avLst/>
          </a:prstGeom>
          <a:solidFill>
            <a:srgbClr val="0A1C34"/>
          </a:solidFill>
          <a:ln w="25400">
            <a:solidFill>
              <a:srgbClr val="3A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Rectangle 131"/>
          <p:cNvSpPr/>
          <p:nvPr/>
        </p:nvSpPr>
        <p:spPr>
          <a:xfrm>
            <a:off x="15966000" y="10529999"/>
            <a:ext cx="180000" cy="1062000"/>
          </a:xfrm>
          <a:prstGeom prst="rect">
            <a:avLst/>
          </a:prstGeom>
          <a:solidFill>
            <a:srgbClr val="3A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16200000" y="10565999"/>
            <a:ext cx="4752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3A9DFF"/>
                </a:solidFill>
                <a:latin typeface="Calibri"/>
              </a:rPr>
              <a:t>6. Energy Estimate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6200000" y="10853999"/>
            <a:ext cx="4752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A5C5"/>
                </a:solidFill>
                <a:latin typeface="Calibri"/>
              </a:rPr>
              <a:t>Energy = Roof Area × GHI × η × (1 – Shadow)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8378000" y="11609999"/>
            <a:ext cx="144000" cy="108000"/>
          </a:xfrm>
          <a:prstGeom prst="rect">
            <a:avLst/>
          </a:prstGeom>
          <a:solidFill>
            <a:srgbClr val="2A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Rectangle 135"/>
          <p:cNvSpPr/>
          <p:nvPr/>
        </p:nvSpPr>
        <p:spPr>
          <a:xfrm>
            <a:off x="15966000" y="11609999"/>
            <a:ext cx="4968000" cy="1062000"/>
          </a:xfrm>
          <a:prstGeom prst="rect">
            <a:avLst/>
          </a:prstGeom>
          <a:solidFill>
            <a:srgbClr val="0A1C34"/>
          </a:solidFill>
          <a:ln w="25400">
            <a:solidFill>
              <a:srgbClr val="00D4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ectangle 136"/>
          <p:cNvSpPr/>
          <p:nvPr/>
        </p:nvSpPr>
        <p:spPr>
          <a:xfrm>
            <a:off x="15966000" y="11609999"/>
            <a:ext cx="180000" cy="1062000"/>
          </a:xfrm>
          <a:prstGeom prst="rect">
            <a:avLst/>
          </a:prstGeom>
          <a:solidFill>
            <a:srgbClr val="00D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16200000" y="11645999"/>
            <a:ext cx="4752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00D472"/>
                </a:solidFill>
                <a:latin typeface="Calibri"/>
              </a:rPr>
              <a:t>7. Classify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6200000" y="11933999"/>
            <a:ext cx="4752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A5C5"/>
                </a:solidFill>
                <a:latin typeface="Calibri"/>
              </a:rPr>
              <a:t>Rank &amp; classify into High / Moderate / Low tiers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15804000" y="13625999"/>
            <a:ext cx="5292000" cy="4860000"/>
          </a:xfrm>
          <a:prstGeom prst="rect">
            <a:avLst/>
          </a:prstGeom>
          <a:solidFill>
            <a:srgbClr val="0D1D33"/>
          </a:solidFill>
          <a:ln w="19050">
            <a:solidFill>
              <a:srgbClr val="FFB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Rectangle 140"/>
          <p:cNvSpPr/>
          <p:nvPr/>
        </p:nvSpPr>
        <p:spPr>
          <a:xfrm>
            <a:off x="15966000" y="13787999"/>
            <a:ext cx="4968000" cy="648000"/>
          </a:xfrm>
          <a:prstGeom prst="rect">
            <a:avLst/>
          </a:prstGeom>
          <a:solidFill>
            <a:srgbClr val="152D4D"/>
          </a:solidFill>
          <a:ln w="19050">
            <a:solidFill>
              <a:srgbClr val="FFB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Rectangle 141"/>
          <p:cNvSpPr/>
          <p:nvPr/>
        </p:nvSpPr>
        <p:spPr>
          <a:xfrm>
            <a:off x="15966000" y="13787999"/>
            <a:ext cx="162000" cy="648000"/>
          </a:xfrm>
          <a:prstGeom prst="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16182000" y="13841999"/>
            <a:ext cx="4716001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B000"/>
                </a:solidFill>
                <a:latin typeface="Calibri"/>
              </a:rPr>
              <a:t>  08  ZOOMED VIEW</a:t>
            </a:r>
          </a:p>
        </p:txBody>
      </p:sp>
      <p:pic>
        <p:nvPicPr>
          <p:cNvPr id="144" name="Picture 143" descr="suitability_zoom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66000" y="14507999"/>
            <a:ext cx="4968000" cy="3870000"/>
          </a:xfrm>
          <a:prstGeom prst="rect">
            <a:avLst/>
          </a:prstGeom>
        </p:spPr>
      </p:pic>
      <p:sp>
        <p:nvSpPr>
          <p:cNvPr id="145" name="Rectangle 144"/>
          <p:cNvSpPr/>
          <p:nvPr/>
        </p:nvSpPr>
        <p:spPr>
          <a:xfrm>
            <a:off x="15804000" y="18719999"/>
            <a:ext cx="5292000" cy="4140000"/>
          </a:xfrm>
          <a:prstGeom prst="rect">
            <a:avLst/>
          </a:prstGeom>
          <a:solidFill>
            <a:srgbClr val="0D1D33"/>
          </a:solidFill>
          <a:ln w="19050">
            <a:solidFill>
              <a:srgbClr val="3A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Rectangle 145"/>
          <p:cNvSpPr/>
          <p:nvPr/>
        </p:nvSpPr>
        <p:spPr>
          <a:xfrm>
            <a:off x="15966000" y="18881999"/>
            <a:ext cx="4968000" cy="648000"/>
          </a:xfrm>
          <a:prstGeom prst="rect">
            <a:avLst/>
          </a:prstGeom>
          <a:solidFill>
            <a:srgbClr val="152D4D"/>
          </a:solidFill>
          <a:ln w="19050">
            <a:solidFill>
              <a:srgbClr val="3A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Rectangle 146"/>
          <p:cNvSpPr/>
          <p:nvPr/>
        </p:nvSpPr>
        <p:spPr>
          <a:xfrm>
            <a:off x="15966000" y="18881999"/>
            <a:ext cx="162000" cy="648000"/>
          </a:xfrm>
          <a:prstGeom prst="rect">
            <a:avLst/>
          </a:prstGeom>
          <a:solidFill>
            <a:srgbClr val="3A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16182000" y="18935999"/>
            <a:ext cx="4716001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A9DFF"/>
                </a:solidFill>
                <a:latin typeface="Calibri"/>
              </a:rPr>
              <a:t>  09  SHADOW PROXY MAP</a:t>
            </a:r>
          </a:p>
        </p:txBody>
      </p:sp>
      <p:pic>
        <p:nvPicPr>
          <p:cNvPr id="149" name="Picture 148" descr="building_height_shadow_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66000" y="19601999"/>
            <a:ext cx="4968000" cy="3150000"/>
          </a:xfrm>
          <a:prstGeom prst="rect">
            <a:avLst/>
          </a:prstGeom>
        </p:spPr>
      </p:pic>
      <p:sp>
        <p:nvSpPr>
          <p:cNvPr id="150" name="Rectangle 149"/>
          <p:cNvSpPr/>
          <p:nvPr/>
        </p:nvSpPr>
        <p:spPr>
          <a:xfrm>
            <a:off x="15803999" y="23093999"/>
            <a:ext cx="5300625" cy="5633214"/>
          </a:xfrm>
          <a:prstGeom prst="rect">
            <a:avLst/>
          </a:prstGeom>
          <a:solidFill>
            <a:srgbClr val="0D1D33"/>
          </a:solidFill>
          <a:ln w="19050">
            <a:solidFill>
              <a:srgbClr val="00D4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Rectangle 150"/>
          <p:cNvSpPr/>
          <p:nvPr/>
        </p:nvSpPr>
        <p:spPr>
          <a:xfrm>
            <a:off x="15966000" y="23255999"/>
            <a:ext cx="4968000" cy="648000"/>
          </a:xfrm>
          <a:prstGeom prst="rect">
            <a:avLst/>
          </a:prstGeom>
          <a:solidFill>
            <a:srgbClr val="152D4D"/>
          </a:solidFill>
          <a:ln w="19050">
            <a:solidFill>
              <a:srgbClr val="00D4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Rectangle 151"/>
          <p:cNvSpPr/>
          <p:nvPr/>
        </p:nvSpPr>
        <p:spPr>
          <a:xfrm>
            <a:off x="15966000" y="23255999"/>
            <a:ext cx="162000" cy="648000"/>
          </a:xfrm>
          <a:prstGeom prst="rect">
            <a:avLst/>
          </a:prstGeom>
          <a:solidFill>
            <a:srgbClr val="00D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16066800" y="23334542"/>
            <a:ext cx="471600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00D472"/>
                </a:solidFill>
                <a:latin typeface="Calibri"/>
              </a:rPr>
              <a:t>  10  </a:t>
            </a:r>
            <a:r>
              <a:rPr lang="en-US" sz="2200" b="1" dirty="0">
                <a:solidFill>
                  <a:srgbClr val="00D472"/>
                </a:solidFill>
                <a:latin typeface="Calibri"/>
              </a:rPr>
              <a:t>Results And Discussions</a:t>
            </a:r>
            <a:endParaRPr sz="2200" b="1" i="0" dirty="0">
              <a:solidFill>
                <a:srgbClr val="00D472"/>
              </a:solidFill>
              <a:latin typeface="Calibri"/>
            </a:endParaRPr>
          </a:p>
        </p:txBody>
      </p:sp>
      <p:sp>
        <p:nvSpPr>
          <p:cNvPr id="154" name="Rectangle 153"/>
          <p:cNvSpPr/>
          <p:nvPr/>
        </p:nvSpPr>
        <p:spPr>
          <a:xfrm>
            <a:off x="15966000" y="24076799"/>
            <a:ext cx="100800" cy="100800"/>
          </a:xfrm>
          <a:prstGeom prst="rect">
            <a:avLst/>
          </a:prstGeom>
          <a:solidFill>
            <a:srgbClr val="00D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15813000" y="23894995"/>
            <a:ext cx="5291624" cy="4444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0000" indent="0">
              <a:lnSpc>
                <a:spcPct val="160000"/>
              </a:lnSpc>
              <a:spcBef>
                <a:spcPts val="0"/>
              </a:spcBef>
              <a:buNone/>
            </a:pPr>
            <a:r>
              <a:rPr lang="en-US" sz="1400" b="0" i="0" dirty="0">
                <a:solidFill>
                  <a:schemeClr val="bg1"/>
                </a:solidFill>
                <a:latin typeface="Calibri"/>
              </a:rPr>
              <a:t> </a:t>
            </a:r>
            <a:r>
              <a:rPr lang="en-US" sz="1400" spc="-100" dirty="0">
                <a:solidFill>
                  <a:schemeClr val="bg1"/>
                </a:solidFill>
                <a:latin typeface="Helvetica" pitchFamily="2" charset="0"/>
              </a:rPr>
              <a:t>San Diego ranks among the top US cities for rooftop solar viability. Key findings:</a:t>
            </a:r>
          </a:p>
          <a:p>
            <a:pPr marL="900000" indent="-540000">
              <a:lnSpc>
                <a:spcPct val="160000"/>
              </a:lnSpc>
              <a:spcBef>
                <a:spcPts val="0"/>
              </a:spcBef>
            </a:pPr>
            <a:r>
              <a:rPr lang="en-US" sz="1400" spc="-100" dirty="0">
                <a:solidFill>
                  <a:schemeClr val="bg1"/>
                </a:solidFill>
                <a:latin typeface="Helvetica" pitchFamily="2" charset="0"/>
              </a:rPr>
              <a:t>~40% of buildings are High or Moderate suitability, a significant addressable solar market</a:t>
            </a:r>
          </a:p>
          <a:p>
            <a:pPr marL="900000" indent="-540000">
              <a:lnSpc>
                <a:spcPct val="160000"/>
              </a:lnSpc>
              <a:spcBef>
                <a:spcPts val="0"/>
              </a:spcBef>
            </a:pPr>
            <a:r>
              <a:rPr lang="en-US" sz="1400" spc="-100" dirty="0">
                <a:solidFill>
                  <a:schemeClr val="bg1"/>
                </a:solidFill>
                <a:latin typeface="Helvetica" pitchFamily="2" charset="0"/>
              </a:rPr>
              <a:t>Suburban zones (Mira Mesa, Mission Valley) show consistently High scores</a:t>
            </a:r>
          </a:p>
          <a:p>
            <a:pPr marL="900000" indent="-540000">
              <a:lnSpc>
                <a:spcPct val="160000"/>
              </a:lnSpc>
              <a:spcBef>
                <a:spcPts val="0"/>
              </a:spcBef>
            </a:pPr>
            <a:r>
              <a:rPr lang="en-US" sz="1400" spc="-100" dirty="0">
                <a:solidFill>
                  <a:schemeClr val="bg1"/>
                </a:solidFill>
                <a:latin typeface="Helvetica" pitchFamily="2" charset="0"/>
              </a:rPr>
              <a:t>Urban cores score lower due to building height shadow effects</a:t>
            </a:r>
          </a:p>
          <a:p>
            <a:pPr marL="900000" indent="-540000">
              <a:lnSpc>
                <a:spcPct val="160000"/>
              </a:lnSpc>
              <a:spcBef>
                <a:spcPts val="0"/>
              </a:spcBef>
            </a:pPr>
            <a:r>
              <a:rPr lang="en-US" sz="1400" spc="-100" dirty="0">
                <a:solidFill>
                  <a:schemeClr val="bg1"/>
                </a:solidFill>
                <a:latin typeface="Helvetica" pitchFamily="2" charset="0"/>
              </a:rPr>
              <a:t>Commercial flat rooftops yield the highest absolute energy potential per building</a:t>
            </a:r>
            <a:endParaRPr lang="en-GB" sz="1400" spc="-100" dirty="0">
              <a:solidFill>
                <a:schemeClr val="bg1"/>
              </a:solidFill>
              <a:latin typeface="Helvetica" pitchFamily="2" charset="0"/>
            </a:endParaRPr>
          </a:p>
          <a:p>
            <a:pPr marL="900000" indent="-540000">
              <a:lnSpc>
                <a:spcPct val="160000"/>
              </a:lnSpc>
              <a:spcBef>
                <a:spcPts val="0"/>
              </a:spcBef>
            </a:pPr>
            <a:r>
              <a:rPr lang="en-US" sz="1400" spc="-100" dirty="0">
                <a:solidFill>
                  <a:schemeClr val="bg1"/>
                </a:solidFill>
                <a:latin typeface="Helvetica" pitchFamily="2" charset="0"/>
              </a:rPr>
              <a:t>Keep the font 32 points, preferably; This study demonstrates city-wide rooftop solar suitability can be assessed systematically using open geospatial data in a reproducible Python pipeline.</a:t>
            </a:r>
          </a:p>
          <a:p>
            <a:pPr algn="l"/>
            <a:endParaRPr sz="1400" b="0" i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156" name="Rectangle 155"/>
          <p:cNvSpPr/>
          <p:nvPr/>
        </p:nvSpPr>
        <p:spPr>
          <a:xfrm>
            <a:off x="15966000" y="24796799"/>
            <a:ext cx="100800" cy="100800"/>
          </a:xfrm>
          <a:prstGeom prst="rect">
            <a:avLst/>
          </a:prstGeom>
          <a:solidFill>
            <a:srgbClr val="00D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Rectangle 157"/>
          <p:cNvSpPr/>
          <p:nvPr/>
        </p:nvSpPr>
        <p:spPr>
          <a:xfrm>
            <a:off x="15966000" y="25516799"/>
            <a:ext cx="100800" cy="100800"/>
          </a:xfrm>
          <a:prstGeom prst="rect">
            <a:avLst/>
          </a:prstGeom>
          <a:solidFill>
            <a:srgbClr val="00D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Rectangle 159"/>
          <p:cNvSpPr/>
          <p:nvPr/>
        </p:nvSpPr>
        <p:spPr>
          <a:xfrm>
            <a:off x="15966000" y="26236799"/>
            <a:ext cx="100800" cy="100800"/>
          </a:xfrm>
          <a:prstGeom prst="rect">
            <a:avLst/>
          </a:prstGeom>
          <a:solidFill>
            <a:srgbClr val="00D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Rectangle 161"/>
          <p:cNvSpPr/>
          <p:nvPr/>
        </p:nvSpPr>
        <p:spPr>
          <a:xfrm>
            <a:off x="15966000" y="26956799"/>
            <a:ext cx="100800" cy="100800"/>
          </a:xfrm>
          <a:prstGeom prst="rect">
            <a:avLst/>
          </a:prstGeom>
          <a:solidFill>
            <a:srgbClr val="00D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Rectangle 163"/>
          <p:cNvSpPr/>
          <p:nvPr/>
        </p:nvSpPr>
        <p:spPr>
          <a:xfrm>
            <a:off x="0" y="28763999"/>
            <a:ext cx="21384000" cy="1512000"/>
          </a:xfrm>
          <a:prstGeom prst="rect">
            <a:avLst/>
          </a:prstGeom>
          <a:solidFill>
            <a:srgbClr val="04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Rectangle 164"/>
          <p:cNvSpPr/>
          <p:nvPr/>
        </p:nvSpPr>
        <p:spPr>
          <a:xfrm>
            <a:off x="0" y="28763999"/>
            <a:ext cx="21384000" cy="125999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Rectangle 165"/>
          <p:cNvSpPr/>
          <p:nvPr/>
        </p:nvSpPr>
        <p:spPr>
          <a:xfrm>
            <a:off x="0" y="28889998"/>
            <a:ext cx="251999" cy="1386001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432000" y="28961999"/>
            <a:ext cx="324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8C00"/>
                </a:solidFill>
                <a:latin typeface="Calibri"/>
              </a:rPr>
              <a:t>CONCLUSION: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3780000" y="28943999"/>
            <a:ext cx="17064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0" i="0">
                <a:solidFill>
                  <a:srgbClr val="E2EDFF"/>
                </a:solidFill>
                <a:latin typeface="Calibri"/>
              </a:rPr>
              <a:t>This study demonstrates that city-wide rooftop solar suitability can be assessed systematically by combining building footprints, solar irradiance rasters, and height-based shadow proxies in a reproducible geospatial pipeline. Results enable spatially-targeted solar incentive deployment across San Diego.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432000" y="29843999"/>
            <a:ext cx="20664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88A5C5"/>
                </a:solidFill>
                <a:latin typeface="Calibri"/>
              </a:rPr>
              <a:t>Data: US Census TIGER  ·  Microsoft Building Footprints  ·  OpenStreetMap  ·  PVGIS EU JRC     |     Tools: Python · </a:t>
            </a:r>
            <a:r>
              <a:rPr sz="1200" b="0" i="0" dirty="0" err="1">
                <a:solidFill>
                  <a:srgbClr val="88A5C5"/>
                </a:solidFill>
                <a:latin typeface="Calibri"/>
              </a:rPr>
              <a:t>GeoPandas</a:t>
            </a:r>
            <a:r>
              <a:rPr sz="1200" b="0" i="0" dirty="0">
                <a:solidFill>
                  <a:srgbClr val="88A5C5"/>
                </a:solidFill>
                <a:latin typeface="Calibri"/>
              </a:rPr>
              <a:t> · </a:t>
            </a:r>
            <a:r>
              <a:rPr sz="1200" b="0" i="0" dirty="0" err="1">
                <a:solidFill>
                  <a:srgbClr val="88A5C5"/>
                </a:solidFill>
                <a:latin typeface="Calibri"/>
              </a:rPr>
              <a:t>Rasterio</a:t>
            </a:r>
            <a:r>
              <a:rPr sz="1200" b="0" i="0" dirty="0">
                <a:solidFill>
                  <a:srgbClr val="88A5C5"/>
                </a:solidFill>
                <a:latin typeface="Calibri"/>
              </a:rPr>
              <a:t> · </a:t>
            </a:r>
            <a:r>
              <a:rPr sz="1200" b="0" i="0" dirty="0" err="1">
                <a:solidFill>
                  <a:srgbClr val="88A5C5"/>
                </a:solidFill>
                <a:latin typeface="Calibri"/>
              </a:rPr>
              <a:t>Contextily</a:t>
            </a:r>
            <a:r>
              <a:rPr sz="1200" b="0" i="0">
                <a:solidFill>
                  <a:srgbClr val="88A5C5"/>
                </a:solidFill>
                <a:latin typeface="Calibri"/>
              </a:rPr>
              <a:t> · Matplotlib     |     Spatial Data Science — BSCS23136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670</Words>
  <Application>Microsoft Office PowerPoint</Application>
  <PresentationFormat>Custom</PresentationFormat>
  <Paragraphs>71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Helvetica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Abdullah Jamil</cp:lastModifiedBy>
  <cp:revision>3</cp:revision>
  <dcterms:created xsi:type="dcterms:W3CDTF">2013-01-27T09:14:16Z</dcterms:created>
  <dcterms:modified xsi:type="dcterms:W3CDTF">2026-05-17T09:00:45Z</dcterms:modified>
  <cp:category/>
</cp:coreProperties>
</file>